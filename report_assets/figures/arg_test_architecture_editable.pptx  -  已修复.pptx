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3541" y="228600"/>
            <a:ext cx="40046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ARG-Test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69"/>
            <a:ext cx="877195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Requirement-driven black-box test generation with structured reasoning, checker validation, reranking, and repair.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051560"/>
            <a:ext cx="1826040" cy="310896"/>
          </a:xfrm>
          <a:prstGeom prst="roundRect">
            <a:avLst/>
          </a:prstGeom>
          <a:solidFill>
            <a:srgbClr val="F2C6B8"/>
          </a:solidFill>
          <a:ln w="10160">
            <a:solidFill>
              <a:srgbClr val="F2C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Model: Qwen3.5-Flash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9152" y="1033372"/>
            <a:ext cx="1175608" cy="310896"/>
          </a:xfrm>
          <a:prstGeom prst="roundRect">
            <a:avLst/>
          </a:prstGeom>
          <a:solidFill>
            <a:srgbClr val="B9DDD8"/>
          </a:solidFill>
          <a:ln w="10160">
            <a:solidFill>
              <a:srgbClr val="B9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2238"/>
                </a:solidFill>
              </a:defRPr>
            </a:pPr>
            <a:r>
              <a:rPr>
                <a:latin typeface="Comic Sans MS" panose="030F0702030302020204" pitchFamily="66" charset="0"/>
              </a:rPr>
              <a:t>Candidates: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9643" y="1028699"/>
            <a:ext cx="2235881" cy="310896"/>
          </a:xfrm>
          <a:prstGeom prst="roundRect">
            <a:avLst/>
          </a:prstGeom>
          <a:solidFill>
            <a:srgbClr val="F5E3B5"/>
          </a:solidFill>
          <a:ln w="10160">
            <a:solidFill>
              <a:srgbClr val="F5E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Output: JSON / CSV / 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509" y="1658686"/>
            <a:ext cx="1874519" cy="1309490"/>
          </a:xfrm>
          <a:prstGeom prst="roundRect">
            <a:avLst/>
          </a:prstGeom>
          <a:solidFill>
            <a:srgbClr val="F5E3B5"/>
          </a:solidFill>
          <a:ln w="17780">
            <a:solidFill>
              <a:srgbClr val="D8A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Requirement Dataset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dev/test requirements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gold specs + manifest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554479"/>
            <a:ext cx="2057400" cy="1517905"/>
          </a:xfrm>
          <a:prstGeom prst="roundRect">
            <a:avLst/>
          </a:prstGeom>
          <a:solidFill>
            <a:srgbClr val="EEF3F7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Prompt Composer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system prompt + task prompt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provider = </a:t>
            </a:r>
            <a:r>
              <a:rPr dirty="0" err="1">
                <a:latin typeface="Comic Sans MS" panose="030F0702030302020204" pitchFamily="66" charset="0"/>
              </a:rPr>
              <a:t>openai</a:t>
            </a:r>
            <a:r>
              <a:rPr dirty="0">
                <a:latin typeface="Comic Sans MS" panose="030F0702030302020204" pitchFamily="66" charset="0"/>
              </a:rPr>
              <a:t>-compatible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554478"/>
            <a:ext cx="2011680" cy="1517905"/>
          </a:xfrm>
          <a:prstGeom prst="roundRect">
            <a:avLst/>
          </a:prstGeom>
          <a:solidFill>
            <a:srgbClr val="F2C6B8"/>
          </a:solidFill>
          <a:ln w="17780">
            <a:solidFill>
              <a:srgbClr val="D5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Structured Trace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analysis / pattern / steps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verification / final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54301" y="1767036"/>
            <a:ext cx="2425318" cy="1092787"/>
          </a:xfrm>
          <a:prstGeom prst="roundRect">
            <a:avLst/>
          </a:prstGeom>
          <a:solidFill>
            <a:srgbClr val="B9DDD8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Parser + Schema Gate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typed trace parsing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suite export preparation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068" y="3291839"/>
            <a:ext cx="1965960" cy="1469941"/>
          </a:xfrm>
          <a:prstGeom prst="roundRect">
            <a:avLst/>
          </a:prstGeom>
          <a:solidFill>
            <a:srgbClr val="F5E3B5"/>
          </a:solidFill>
          <a:ln w="17780">
            <a:solidFill>
              <a:srgbClr val="D8A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EP / BVA Contract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partitions, invalid inputs,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boundaries and edge cases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3287265"/>
            <a:ext cx="2057400" cy="1469941"/>
          </a:xfrm>
          <a:prstGeom prst="roundRect">
            <a:avLst/>
          </a:prstGeom>
          <a:solidFill>
            <a:srgbClr val="EEF3F7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Decision Contract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rule combinations, priorities,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conflicts and exceptions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18634" y="3291840"/>
            <a:ext cx="2057400" cy="1469940"/>
          </a:xfrm>
          <a:prstGeom prst="roundRect">
            <a:avLst/>
          </a:prstGeom>
          <a:solidFill>
            <a:srgbClr val="F2C6B8"/>
          </a:solidFill>
          <a:ln w="17780">
            <a:solidFill>
              <a:srgbClr val="D5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State Contract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states, transitions, retries,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exceptional paths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92540" y="3291840"/>
            <a:ext cx="2148840" cy="1465366"/>
          </a:xfrm>
          <a:prstGeom prst="roundRect">
            <a:avLst/>
          </a:prstGeom>
          <a:solidFill>
            <a:srgbClr val="E2DAF3"/>
          </a:solidFill>
          <a:ln w="17780">
            <a:solidFill>
              <a:srgbClr val="7C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1800" b="1">
                <a:solidFill>
                  <a:srgbClr val="132238"/>
                </a:solidFill>
              </a:defRPr>
            </a:pPr>
            <a:r>
              <a:rPr dirty="0" err="1">
                <a:latin typeface="Comic Sans MS" panose="030F0702030302020204" pitchFamily="66" charset="0"/>
              </a:rPr>
              <a:t>Rerank</a:t>
            </a:r>
            <a:r>
              <a:rPr dirty="0">
                <a:latin typeface="Comic Sans MS" panose="030F0702030302020204" pitchFamily="66" charset="0"/>
              </a:rPr>
              <a:t> + Repair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aggregate checker score,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local repair, best candidate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5349240"/>
            <a:ext cx="2926080" cy="987552"/>
          </a:xfrm>
          <a:prstGeom prst="roundRect">
            <a:avLst/>
          </a:prstGeom>
          <a:solidFill>
            <a:srgbClr val="B9DDD8"/>
          </a:solidFill>
          <a:ln w="17780">
            <a:solidFill>
              <a:srgbClr val="3B8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20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Final Test Suite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JSON + CSV + markdown test cases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chosen candidate after checker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5349240"/>
            <a:ext cx="3657600" cy="987552"/>
          </a:xfrm>
          <a:prstGeom prst="roundRect">
            <a:avLst/>
          </a:prstGeom>
          <a:solidFill>
            <a:srgbClr val="F2C6B8"/>
          </a:solidFill>
          <a:ln w="17780">
            <a:solidFill>
              <a:srgbClr val="D5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2400" tIns="127000" rIns="152400" bIns="127000" rtlCol="0" anchor="t"/>
          <a:lstStyle/>
          <a:p>
            <a:pPr algn="ctr">
              <a:defRPr sz="2000" b="1">
                <a:solidFill>
                  <a:srgbClr val="132238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Evaluation and Reports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 err="1">
                <a:latin typeface="Comic Sans MS" panose="030F0702030302020204" pitchFamily="66" charset="0"/>
              </a:rPr>
              <a:t>run_main</a:t>
            </a:r>
            <a:r>
              <a:rPr dirty="0">
                <a:latin typeface="Comic Sans MS" panose="030F0702030302020204" pitchFamily="66" charset="0"/>
              </a:rPr>
              <a:t> / baselines / ablation / generalization</a:t>
            </a:r>
          </a:p>
          <a:p>
            <a:pPr algn="ctr">
              <a:defRPr sz="1100">
                <a:solidFill>
                  <a:srgbClr val="5B6677"/>
                </a:solidFill>
              </a:defRPr>
            </a:pPr>
            <a:r>
              <a:rPr dirty="0">
                <a:latin typeface="Comic Sans MS" panose="030F0702030302020204" pitchFamily="66" charset="0"/>
              </a:rPr>
              <a:t>coverage, checker score, category breakdown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0" y="2606040"/>
            <a:ext cx="0" cy="685800"/>
          </a:xfrm>
          <a:prstGeom prst="line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14" idx="2"/>
            <a:endCxn id="16" idx="0"/>
          </p:cNvCxnSpPr>
          <p:nvPr/>
        </p:nvCxnSpPr>
        <p:spPr>
          <a:xfrm rot="5400000">
            <a:off x="8436503" y="3818783"/>
            <a:ext cx="592034" cy="2468880"/>
          </a:xfrm>
          <a:prstGeom prst="bentConnector3">
            <a:avLst>
              <a:gd name="adj1" fmla="val 50000"/>
            </a:avLst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14" idx="2"/>
            <a:endCxn id="15" idx="0"/>
          </p:cNvCxnSpPr>
          <p:nvPr/>
        </p:nvCxnSpPr>
        <p:spPr>
          <a:xfrm rot="5400000">
            <a:off x="6584843" y="1967123"/>
            <a:ext cx="592034" cy="6172200"/>
          </a:xfrm>
          <a:prstGeom prst="bentConnector3">
            <a:avLst>
              <a:gd name="adj1" fmla="val 50000"/>
            </a:avLst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24">
            <a:extLst>
              <a:ext uri="{FF2B5EF4-FFF2-40B4-BE49-F238E27FC236}">
                <a16:creationId xmlns:a16="http://schemas.microsoft.com/office/drawing/2014/main" id="{DFB4E183-7158-4531-0333-C6EDCF083F58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rot="10800000">
            <a:off x="2380028" y="2313432"/>
            <a:ext cx="500332" cy="1"/>
          </a:xfrm>
          <a:prstGeom prst="bentConnector3">
            <a:avLst>
              <a:gd name="adj1" fmla="val 50000"/>
            </a:avLst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4">
            <a:extLst>
              <a:ext uri="{FF2B5EF4-FFF2-40B4-BE49-F238E27FC236}">
                <a16:creationId xmlns:a16="http://schemas.microsoft.com/office/drawing/2014/main" id="{3FBDDC8E-2A83-B362-024A-42A811AF1DC5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rot="10800000" flipV="1">
            <a:off x="4937760" y="2313430"/>
            <a:ext cx="662940" cy="1"/>
          </a:xfrm>
          <a:prstGeom prst="bentConnector3">
            <a:avLst>
              <a:gd name="adj1" fmla="val 50000"/>
            </a:avLst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24">
            <a:extLst>
              <a:ext uri="{FF2B5EF4-FFF2-40B4-BE49-F238E27FC236}">
                <a16:creationId xmlns:a16="http://schemas.microsoft.com/office/drawing/2014/main" id="{E703523F-881B-30C0-EA65-99D9A1ADB1DD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>
            <a:off x="2380028" y="4022236"/>
            <a:ext cx="907240" cy="4574"/>
          </a:xfrm>
          <a:prstGeom prst="straightConnector1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24">
            <a:extLst>
              <a:ext uri="{FF2B5EF4-FFF2-40B4-BE49-F238E27FC236}">
                <a16:creationId xmlns:a16="http://schemas.microsoft.com/office/drawing/2014/main" id="{7802F2D5-E336-002B-DEF3-429031FFC4CA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5344668" y="4022236"/>
            <a:ext cx="473966" cy="4574"/>
          </a:xfrm>
          <a:prstGeom prst="straightConnector1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24">
            <a:extLst>
              <a:ext uri="{FF2B5EF4-FFF2-40B4-BE49-F238E27FC236}">
                <a16:creationId xmlns:a16="http://schemas.microsoft.com/office/drawing/2014/main" id="{9509B88A-98EC-8407-290A-5D278A6ABA84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7876034" y="4024523"/>
            <a:ext cx="1016506" cy="2287"/>
          </a:xfrm>
          <a:prstGeom prst="straightConnector1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24">
            <a:extLst>
              <a:ext uri="{FF2B5EF4-FFF2-40B4-BE49-F238E27FC236}">
                <a16:creationId xmlns:a16="http://schemas.microsoft.com/office/drawing/2014/main" id="{7047BB1A-500C-E946-9427-12792914D92C}"/>
              </a:ext>
            </a:extLst>
          </p:cNvPr>
          <p:cNvCxnSpPr>
            <a:cxnSpLocks/>
            <a:stCxn id="10" idx="1"/>
            <a:endCxn id="9" idx="3"/>
          </p:cNvCxnSpPr>
          <p:nvPr/>
        </p:nvCxnSpPr>
        <p:spPr>
          <a:xfrm flipH="1">
            <a:off x="7612380" y="2313430"/>
            <a:ext cx="1141921" cy="1"/>
          </a:xfrm>
          <a:prstGeom prst="straightConnector1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24">
            <a:extLst>
              <a:ext uri="{FF2B5EF4-FFF2-40B4-BE49-F238E27FC236}">
                <a16:creationId xmlns:a16="http://schemas.microsoft.com/office/drawing/2014/main" id="{E9D51B4E-E7FE-DEBC-AAD0-2C14C0CBECA9}"/>
              </a:ext>
            </a:extLst>
          </p:cNvPr>
          <p:cNvCxnSpPr>
            <a:cxnSpLocks/>
            <a:stCxn id="14" idx="0"/>
            <a:endCxn id="10" idx="2"/>
          </p:cNvCxnSpPr>
          <p:nvPr/>
        </p:nvCxnSpPr>
        <p:spPr>
          <a:xfrm flipV="1">
            <a:off x="9966960" y="2859823"/>
            <a:ext cx="0" cy="432017"/>
          </a:xfrm>
          <a:prstGeom prst="straightConnector1">
            <a:avLst/>
          </a:prstGeom>
          <a:ln w="27940">
            <a:solidFill>
              <a:srgbClr val="5B6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</Words>
  <Application>Microsoft Office PowerPoint</Application>
  <PresentationFormat>宽屏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Comic Sans MS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Yi Xu</dc:creator>
  <cp:keywords/>
  <dc:description>generated using python-pptx</dc:description>
  <cp:lastModifiedBy>Yi Xu</cp:lastModifiedBy>
  <cp:revision>2</cp:revision>
  <dcterms:created xsi:type="dcterms:W3CDTF">2013-01-27T09:14:16Z</dcterms:created>
  <dcterms:modified xsi:type="dcterms:W3CDTF">2026-04-10T17:07:31Z</dcterms:modified>
  <cp:category/>
</cp:coreProperties>
</file>