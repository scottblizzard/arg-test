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238"/>
                </a:solidFill>
              </a:defRPr>
            </a:pPr>
            <a:r>
              <a:t>ARG-Test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1323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677"/>
                </a:solidFill>
              </a:defRPr>
            </a:pPr>
            <a:r>
              <a:t>Requirement-driven black-box test generation with structured reasoning, checker validation, reranking, and repair.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051560"/>
            <a:ext cx="1508760" cy="310896"/>
          </a:xfrm>
          <a:prstGeom prst="roundRect">
            <a:avLst/>
          </a:prstGeom>
          <a:solidFill>
            <a:srgbClr val="F2C6B8"/>
          </a:solidFill>
          <a:ln w="10160">
            <a:solidFill>
              <a:srgbClr val="F2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2238"/>
                </a:solidFill>
              </a:defRPr>
            </a:pPr>
            <a:r>
              <a:t>Model: Qwen3.5-Flash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051560"/>
            <a:ext cx="1097280" cy="310896"/>
          </a:xfrm>
          <a:prstGeom prst="roundRect">
            <a:avLst/>
          </a:prstGeom>
          <a:solidFill>
            <a:srgbClr val="B9DDD8"/>
          </a:solidFill>
          <a:ln w="10160">
            <a:solidFill>
              <a:srgbClr val="B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2238"/>
                </a:solidFill>
              </a:defRPr>
            </a:pPr>
            <a:r>
              <a:t>Candidates: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008" y="1051560"/>
            <a:ext cx="1645920" cy="310896"/>
          </a:xfrm>
          <a:prstGeom prst="roundRect">
            <a:avLst/>
          </a:prstGeom>
          <a:solidFill>
            <a:srgbClr val="F5E3B5"/>
          </a:solidFill>
          <a:ln w="10160">
            <a:solidFill>
              <a:srgbClr val="F5E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2238"/>
                </a:solidFill>
              </a:defRPr>
            </a:pPr>
            <a:r>
              <a:t>Output: JSON / CSV / 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874519" cy="1051560"/>
          </a:xfrm>
          <a:prstGeom prst="roundRect">
            <a:avLst/>
          </a:prstGeom>
          <a:solidFill>
            <a:srgbClr val="F5E3B5"/>
          </a:solidFill>
          <a:ln w="17780">
            <a:solidFill>
              <a:srgbClr val="D8A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/>
          <a:lstStyle/>
          <a:p>
            <a:pPr algn="l">
              <a:defRPr b="1" sz="1800">
                <a:solidFill>
                  <a:srgbClr val="132238"/>
                </a:solidFill>
              </a:defRPr>
            </a:pPr>
            <a:r>
              <a:t>Requirement Dataset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dev/test requirements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gold specs + manifest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554480"/>
            <a:ext cx="2057400" cy="1051560"/>
          </a:xfrm>
          <a:prstGeom prst="roundRect">
            <a:avLst/>
          </a:prstGeom>
          <a:solidFill>
            <a:srgbClr val="EEF3F7"/>
          </a:solidFill>
          <a:ln w="17780">
            <a:solidFill>
              <a:srgbClr val="3B8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/>
          <a:lstStyle/>
          <a:p>
            <a:pPr algn="l">
              <a:defRPr b="1" sz="1800">
                <a:solidFill>
                  <a:srgbClr val="132238"/>
                </a:solidFill>
              </a:defRPr>
            </a:pPr>
            <a:r>
              <a:t>Prompt Composer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system prompt + task prompt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provider = openai-compatible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554480"/>
            <a:ext cx="2011680" cy="1051560"/>
          </a:xfrm>
          <a:prstGeom prst="roundRect">
            <a:avLst/>
          </a:prstGeom>
          <a:solidFill>
            <a:srgbClr val="F2C6B8"/>
          </a:solidFill>
          <a:ln w="17780">
            <a:solidFill>
              <a:srgbClr val="D5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/>
          <a:lstStyle/>
          <a:p>
            <a:pPr algn="l">
              <a:defRPr b="1" sz="1800">
                <a:solidFill>
                  <a:srgbClr val="132238"/>
                </a:solidFill>
              </a:defRPr>
            </a:pPr>
            <a:r>
              <a:t>Structured Trace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analysis / pattern / steps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verification / final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2331720" cy="1051560"/>
          </a:xfrm>
          <a:prstGeom prst="roundRect">
            <a:avLst/>
          </a:prstGeom>
          <a:solidFill>
            <a:srgbClr val="B9DDD8"/>
          </a:solidFill>
          <a:ln w="17780">
            <a:solidFill>
              <a:srgbClr val="3B8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/>
          <a:lstStyle/>
          <a:p>
            <a:pPr algn="l">
              <a:defRPr b="1" sz="1800">
                <a:solidFill>
                  <a:srgbClr val="132238"/>
                </a:solidFill>
              </a:defRPr>
            </a:pPr>
            <a:r>
              <a:t>Parser + Schema Gate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typed trace parsing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suite export preparation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91840"/>
            <a:ext cx="1965960" cy="1143000"/>
          </a:xfrm>
          <a:prstGeom prst="roundRect">
            <a:avLst/>
          </a:prstGeom>
          <a:solidFill>
            <a:srgbClr val="F5E3B5"/>
          </a:solidFill>
          <a:ln w="17780">
            <a:solidFill>
              <a:srgbClr val="D8A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/>
          <a:lstStyle/>
          <a:p>
            <a:pPr algn="l">
              <a:defRPr b="1" sz="1800">
                <a:solidFill>
                  <a:srgbClr val="132238"/>
                </a:solidFill>
              </a:defRPr>
            </a:pPr>
            <a:r>
              <a:t>EP / BVA Contract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partitions, invalid inputs,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boundaries and edge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291840"/>
            <a:ext cx="2057400" cy="1143000"/>
          </a:xfrm>
          <a:prstGeom prst="roundRect">
            <a:avLst/>
          </a:prstGeom>
          <a:solidFill>
            <a:srgbClr val="EEF3F7"/>
          </a:solidFill>
          <a:ln w="17780">
            <a:solidFill>
              <a:srgbClr val="3B8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/>
          <a:lstStyle/>
          <a:p>
            <a:pPr algn="l">
              <a:defRPr b="1" sz="1800">
                <a:solidFill>
                  <a:srgbClr val="132238"/>
                </a:solidFill>
              </a:defRPr>
            </a:pPr>
            <a:r>
              <a:t>Decision Contract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rule combinations, priorities,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conflicts and exceptions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3291840"/>
            <a:ext cx="2057400" cy="1143000"/>
          </a:xfrm>
          <a:prstGeom prst="roundRect">
            <a:avLst/>
          </a:prstGeom>
          <a:solidFill>
            <a:srgbClr val="F2C6B8"/>
          </a:solidFill>
          <a:ln w="17780">
            <a:solidFill>
              <a:srgbClr val="D5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/>
          <a:lstStyle/>
          <a:p>
            <a:pPr algn="l">
              <a:defRPr b="1" sz="1800">
                <a:solidFill>
                  <a:srgbClr val="132238"/>
                </a:solidFill>
              </a:defRPr>
            </a:pPr>
            <a:r>
              <a:t>State Contract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states, transitions, retries,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exceptional paths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291840"/>
            <a:ext cx="2148840" cy="1143000"/>
          </a:xfrm>
          <a:prstGeom prst="roundRect">
            <a:avLst/>
          </a:prstGeom>
          <a:solidFill>
            <a:srgbClr val="E2DAF3"/>
          </a:solidFill>
          <a:ln w="17780">
            <a:solidFill>
              <a:srgbClr val="7C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/>
          <a:lstStyle/>
          <a:p>
            <a:pPr algn="l">
              <a:defRPr b="1" sz="1800">
                <a:solidFill>
                  <a:srgbClr val="132238"/>
                </a:solidFill>
              </a:defRPr>
            </a:pPr>
            <a:r>
              <a:t>Rerank + Repair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aggregate checker score,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local repair, best candidate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5349240"/>
            <a:ext cx="2926080" cy="987552"/>
          </a:xfrm>
          <a:prstGeom prst="roundRect">
            <a:avLst/>
          </a:prstGeom>
          <a:solidFill>
            <a:srgbClr val="B9DDD8"/>
          </a:solidFill>
          <a:ln w="17780">
            <a:solidFill>
              <a:srgbClr val="3B8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/>
          <a:lstStyle/>
          <a:p>
            <a:pPr algn="l">
              <a:defRPr b="1" sz="2000">
                <a:solidFill>
                  <a:srgbClr val="132238"/>
                </a:solidFill>
              </a:defRPr>
            </a:pPr>
            <a:r>
              <a:t>Final Test Suite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JSON + CSV + markdown test cases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chosen candidate after checker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5349240"/>
            <a:ext cx="3657600" cy="987552"/>
          </a:xfrm>
          <a:prstGeom prst="roundRect">
            <a:avLst/>
          </a:prstGeom>
          <a:solidFill>
            <a:srgbClr val="F2C6B8"/>
          </a:solidFill>
          <a:ln w="17780">
            <a:solidFill>
              <a:srgbClr val="D5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/>
          <a:lstStyle/>
          <a:p>
            <a:pPr algn="l">
              <a:defRPr b="1" sz="2000">
                <a:solidFill>
                  <a:srgbClr val="132238"/>
                </a:solidFill>
              </a:defRPr>
            </a:pPr>
            <a:r>
              <a:t>Evaluation and Reports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run_main / baselines / ablation / generalization</a:t>
            </a:r>
          </a:p>
          <a:p>
            <a:pPr algn="l">
              <a:defRPr sz="1100">
                <a:solidFill>
                  <a:srgbClr val="5B6677"/>
                </a:solidFill>
              </a:defRPr>
            </a:pPr>
            <a:r>
              <a:t>coverage, checker score, category breakdown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319" y="2080260.0"/>
            <a:ext cx="320041" cy="0.0"/>
          </a:xfrm>
          <a:prstGeom prst="line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080260.0"/>
            <a:ext cx="411480" cy="0.0"/>
          </a:xfrm>
          <a:prstGeom prst="line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60920" y="2080260.0"/>
            <a:ext cx="365759" cy="0.0"/>
          </a:xfrm>
          <a:prstGeom prst="line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92539.0" y="2606040"/>
            <a:ext cx="411481.0" cy="685800"/>
          </a:xfrm>
          <a:prstGeom prst="line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80360" y="3863340.0"/>
            <a:ext cx="457200" cy="0.0"/>
          </a:xfrm>
          <a:prstGeom prst="line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94960" y="3863340.0"/>
            <a:ext cx="411480" cy="0.0"/>
          </a:xfrm>
          <a:prstGeom prst="line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3863340.0"/>
            <a:ext cx="365760" cy="0.0"/>
          </a:xfrm>
          <a:prstGeom prst="line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583680" y="4434840"/>
            <a:ext cx="2720340.0" cy="914400"/>
          </a:xfrm>
          <a:prstGeom prst="line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154680" y="4434840"/>
            <a:ext cx="5440680" cy="914400"/>
          </a:xfrm>
          <a:prstGeom prst="line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